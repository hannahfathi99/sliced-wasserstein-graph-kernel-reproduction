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6"/>
  </p:notesMasterIdLst>
  <p:handoutMasterIdLst>
    <p:handoutMasterId r:id="rId27"/>
  </p:handoutMasterIdLst>
  <p:sldIdLst>
    <p:sldId id="314" r:id="rId5"/>
    <p:sldId id="318" r:id="rId6"/>
    <p:sldId id="315" r:id="rId7"/>
    <p:sldId id="327" r:id="rId8"/>
    <p:sldId id="326" r:id="rId9"/>
    <p:sldId id="328" r:id="rId10"/>
    <p:sldId id="329" r:id="rId11"/>
    <p:sldId id="330" r:id="rId12"/>
    <p:sldId id="331" r:id="rId13"/>
    <p:sldId id="332" r:id="rId14"/>
    <p:sldId id="333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0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5388" autoAdjust="0"/>
  </p:normalViewPr>
  <p:slideViewPr>
    <p:cSldViewPr snapToGrid="0">
      <p:cViewPr varScale="1">
        <p:scale>
          <a:sx n="90" d="100"/>
          <a:sy n="90" d="100"/>
        </p:scale>
        <p:origin x="852" y="6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95413"/>
            <a:ext cx="5674360" cy="205909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Positive Definite Sliced Wasserstein Graph Kernel</a:t>
            </a:r>
            <a:br>
              <a:rPr lang="en-US" sz="3600" b="1" dirty="0"/>
            </a:br>
            <a:r>
              <a:rPr lang="en-US" sz="2400" dirty="0"/>
              <a:t>for Brain Disease Diagnosis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00954-8A04-69A8-424C-03B720449B5B}"/>
              </a:ext>
            </a:extLst>
          </p:cNvPr>
          <p:cNvSpPr txBox="1"/>
          <p:nvPr/>
        </p:nvSpPr>
        <p:spPr>
          <a:xfrm>
            <a:off x="6096000" y="550154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(MICCAI 2023)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097915"/>
          </a:xfrm>
        </p:spPr>
        <p:txBody>
          <a:bodyPr>
            <a:normAutofit/>
          </a:bodyPr>
          <a:lstStyle/>
          <a:p>
            <a:r>
              <a:rPr lang="en-US" sz="2800" b="1" dirty="0"/>
              <a:t>Scientific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374987"/>
            <a:ext cx="7273638" cy="4792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Why Mathematics for Brain Disease Analysis?</a:t>
            </a:r>
          </a:p>
          <a:p>
            <a:pPr marL="0" indent="0">
              <a:buNone/>
            </a:pPr>
            <a:r>
              <a:rPr lang="en-US" sz="1600" dirty="0"/>
              <a:t>Brain disorders (ADHD, ASD, EMCI):</a:t>
            </a:r>
          </a:p>
          <a:p>
            <a:pPr lvl="1"/>
            <a:r>
              <a:rPr lang="en-US" sz="1600" dirty="0"/>
              <a:t>Alter functional connectivity patterns</a:t>
            </a:r>
          </a:p>
          <a:p>
            <a:pPr lvl="1"/>
            <a:r>
              <a:rPr lang="en-US" sz="1600" dirty="0"/>
              <a:t>Affect global information flow</a:t>
            </a:r>
          </a:p>
          <a:p>
            <a:pPr lvl="1"/>
            <a:r>
              <a:rPr lang="en-US" sz="1600" dirty="0"/>
              <a:t>Cannot be fully characterized by local graph statistics</a:t>
            </a:r>
          </a:p>
          <a:p>
            <a:pPr marL="0" indent="0">
              <a:buNone/>
            </a:pPr>
            <a:r>
              <a:rPr lang="en-US" sz="1600" dirty="0"/>
              <a:t>Key Question:</a:t>
            </a:r>
          </a:p>
          <a:p>
            <a:pPr lvl="1"/>
            <a:r>
              <a:rPr lang="en-US" sz="1600" dirty="0"/>
              <a:t>How can we mathematically quantify structural dissimilarity</a:t>
            </a:r>
          </a:p>
          <a:p>
            <a:pPr marL="0" indent="0">
              <a:buNone/>
            </a:pPr>
            <a:r>
              <a:rPr lang="en-US" sz="1600" dirty="0"/>
              <a:t>between two brain networks? </a:t>
            </a:r>
            <a:endParaRPr lang="fa-IR" sz="1600" dirty="0"/>
          </a:p>
          <a:p>
            <a:pPr marL="0" indent="0">
              <a:buNone/>
            </a:pPr>
            <a:r>
              <a:rPr lang="en-US" sz="1600" dirty="0"/>
              <a:t>Desired properties of the solution:</a:t>
            </a:r>
          </a:p>
          <a:p>
            <a:pPr lvl="1"/>
            <a:r>
              <a:rPr lang="en-US" sz="1600" dirty="0"/>
              <a:t>Metric-based</a:t>
            </a:r>
          </a:p>
          <a:p>
            <a:pPr lvl="1"/>
            <a:r>
              <a:rPr lang="en-US" sz="1600" dirty="0"/>
              <a:t>Geometry-aware</a:t>
            </a:r>
          </a:p>
          <a:p>
            <a:pPr lvl="1"/>
            <a:r>
              <a:rPr lang="en-US" sz="1600" dirty="0"/>
              <a:t>Statistically meaningful</a:t>
            </a:r>
          </a:p>
          <a:p>
            <a:pPr lvl="1"/>
            <a:r>
              <a:rPr lang="en-US" sz="1600" dirty="0"/>
              <a:t>Computationally tractable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7477760" cy="781747"/>
          </a:xfrm>
        </p:spPr>
        <p:txBody>
          <a:bodyPr>
            <a:normAutofit/>
          </a:bodyPr>
          <a:lstStyle/>
          <a:p>
            <a:r>
              <a:rPr lang="en-US" sz="2800" b="1" dirty="0"/>
              <a:t>Brain Functional Networks as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20C1E08-E337-110E-DB8E-41BA4A3341A1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400" y="1517227"/>
                <a:ext cx="5628640" cy="488357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sz="1600" b="1" dirty="0"/>
                  <a:t>Graph Representation of the Brain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sz="1600" dirty="0"/>
                  <a:t>Given </a:t>
                </a:r>
                <a:r>
                  <a:rPr lang="en-US" sz="1600" dirty="0" err="1"/>
                  <a:t>rs</a:t>
                </a:r>
                <a:r>
                  <a:rPr lang="en-US" sz="1600" dirty="0"/>
                  <a:t>-fMRI data:</a:t>
                </a:r>
              </a:p>
              <a:p>
                <a:pPr marL="971550" lvl="1" indent="-285750">
                  <a:lnSpc>
                    <a:spcPct val="160000"/>
                  </a:lnSpc>
                </a:pPr>
                <a:r>
                  <a:rPr lang="en-US" sz="1600" dirty="0"/>
                  <a:t>Nodes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600" dirty="0"/>
                  <a:t>: brain regions (AAL atlas, 90 ROIs)</a:t>
                </a:r>
              </a:p>
              <a:p>
                <a:pPr marL="971550" lvl="1" indent="-285750">
                  <a:lnSpc>
                    <a:spcPct val="160000"/>
                  </a:lnSpc>
                </a:pPr>
                <a:r>
                  <a:rPr lang="en-US" sz="1600" dirty="0"/>
                  <a:t>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1600" dirty="0"/>
                  <a:t>: pairwise functional correlations</a:t>
                </a:r>
              </a:p>
              <a:p>
                <a:pPr marL="971550" lvl="1" indent="-285750">
                  <a:lnSpc>
                    <a:spcPct val="160000"/>
                  </a:lnSpc>
                </a:pPr>
                <a:r>
                  <a:rPr lang="en-US" sz="1600" dirty="0"/>
                  <a:t>Edge weights: Pearson correlation (</a:t>
                </a:r>
                <a:r>
                  <a:rPr lang="en-US" sz="1600" dirty="0" err="1"/>
                  <a:t>thresholded</a:t>
                </a:r>
                <a:r>
                  <a:rPr lang="en-US" sz="1600" dirty="0"/>
                  <a:t>)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sz="1600" dirty="0"/>
                  <a:t>Graph model:</a:t>
                </a:r>
              </a:p>
              <a:p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 b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US" sz="1600" b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600" b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60000"/>
                  </a:lnSpc>
                </a:pPr>
                <a:r>
                  <a:rPr lang="en-US" sz="1600" dirty="0"/>
                  <a:t>Key challenges:</a:t>
                </a:r>
              </a:p>
              <a:p>
                <a:pPr marL="971550" lvl="1" indent="-285750">
                  <a:lnSpc>
                    <a:spcPct val="160000"/>
                  </a:lnSpc>
                </a:pPr>
                <a:r>
                  <a:rPr lang="en-US" sz="1600" dirty="0"/>
                  <a:t>Graphs are weighted, dense, and noisy</a:t>
                </a:r>
              </a:p>
              <a:p>
                <a:pPr marL="971550" lvl="1" indent="-285750">
                  <a:lnSpc>
                    <a:spcPct val="160000"/>
                  </a:lnSpc>
                </a:pPr>
                <a:r>
                  <a:rPr lang="en-US" sz="1600" dirty="0"/>
                  <a:t>Node correspondence is fixed but global structure varies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20C1E08-E337-110E-DB8E-41BA4A334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400" y="1517227"/>
                <a:ext cx="5628640" cy="4883573"/>
              </a:xfrm>
              <a:blipFill>
                <a:blip r:embed="rId3"/>
                <a:stretch>
                  <a:fillRect l="-542" b="-4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6F65A-BC8A-EEA2-4851-CC55D895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Limitations of Classical Graph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C271A-F64A-9941-1DE6-F349E912B5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1754293"/>
            <a:ext cx="7213601" cy="4592320"/>
          </a:xfrm>
        </p:spPr>
        <p:txBody>
          <a:bodyPr>
            <a:noAutofit/>
          </a:bodyPr>
          <a:lstStyle/>
          <a:p>
            <a:r>
              <a:rPr lang="en-US" sz="1600" b="1" dirty="0"/>
              <a:t>Why Standard Network Measures Are Insufficient</a:t>
            </a:r>
          </a:p>
          <a:p>
            <a:r>
              <a:rPr lang="en-US" sz="1600" dirty="0"/>
              <a:t>Traditional approaches rely on:</a:t>
            </a:r>
          </a:p>
          <a:p>
            <a:pPr marL="1028700" lvl="2" indent="-342900"/>
            <a:r>
              <a:rPr lang="en-US" sz="1600" dirty="0"/>
              <a:t>Degree distribution</a:t>
            </a:r>
          </a:p>
          <a:p>
            <a:pPr marL="1028700" lvl="2" indent="-342900"/>
            <a:r>
              <a:rPr lang="en-US" sz="1600" dirty="0"/>
              <a:t>Clustering coefficient</a:t>
            </a:r>
          </a:p>
          <a:p>
            <a:pPr marL="1028700" lvl="2" indent="-342900"/>
            <a:r>
              <a:rPr lang="en-US" sz="1600" dirty="0"/>
              <a:t>Local efficiency</a:t>
            </a:r>
          </a:p>
          <a:p>
            <a:pPr marL="1028700" lvl="2" indent="-342900"/>
            <a:r>
              <a:rPr lang="en-US" sz="1600" dirty="0"/>
              <a:t>Betweenness centrality</a:t>
            </a:r>
          </a:p>
          <a:p>
            <a:r>
              <a:rPr lang="en-US" sz="1600" dirty="0"/>
              <a:t>Limitations:</a:t>
            </a:r>
          </a:p>
          <a:p>
            <a:pPr marL="1028700" lvl="2" indent="-342900"/>
            <a:r>
              <a:rPr lang="en-US" sz="1600" dirty="0"/>
              <a:t>Mostly local descriptors</a:t>
            </a:r>
          </a:p>
          <a:p>
            <a:pPr marL="1028700" lvl="2" indent="-342900"/>
            <a:r>
              <a:rPr lang="en-US" sz="1600" dirty="0"/>
              <a:t>Ignore global geometry</a:t>
            </a:r>
          </a:p>
          <a:p>
            <a:pPr marL="1028700" lvl="2" indent="-342900"/>
            <a:r>
              <a:rPr lang="en-US" sz="1600" dirty="0"/>
              <a:t>No notion of transport or flow</a:t>
            </a:r>
          </a:p>
          <a:p>
            <a:pPr marL="1028700" lvl="2" indent="-342900"/>
            <a:r>
              <a:rPr lang="en-US" sz="1600" dirty="0"/>
              <a:t>Poor discriminative power for subtle diseases</a:t>
            </a:r>
          </a:p>
          <a:p>
            <a:r>
              <a:rPr lang="en-US" sz="1600" dirty="0"/>
              <a:t>Conclusion:</a:t>
            </a:r>
          </a:p>
          <a:p>
            <a:pPr marL="685800" lvl="3" indent="0">
              <a:buNone/>
            </a:pPr>
            <a:r>
              <a:rPr lang="en-US" dirty="0"/>
              <a:t>We need geometry-aware distances between graphs.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ED574-EE0D-9ACF-7821-51F35FBFC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3900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475A-9065-8E5A-2FA4-DA032382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581" y="335280"/>
            <a:ext cx="6983019" cy="806027"/>
          </a:xfrm>
        </p:spPr>
        <p:txBody>
          <a:bodyPr>
            <a:normAutofit/>
          </a:bodyPr>
          <a:lstStyle/>
          <a:p>
            <a:r>
              <a:rPr lang="en-US" sz="2800" b="1" dirty="0"/>
              <a:t>From Graph Comparison to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CD28CE-153C-42F2-A305-9646D96664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50933" y="1483360"/>
                <a:ext cx="6434667" cy="519514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220000"/>
                  </a:lnSpc>
                </a:pPr>
                <a:r>
                  <a:rPr lang="en-US" sz="1600" b="1" dirty="0"/>
                  <a:t>Reformulating the Problem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Instead of comparing: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0"/>
                        <m:t>Graph</m:t>
                      </m:r>
                      <m:r>
                        <m:rPr>
                          <m:nor/>
                        </m:rPr>
                        <a:rPr lang="en-US" sz="1600" i="0"/>
                        <m:t> </m:t>
                      </m:r>
                      <m:r>
                        <m:rPr>
                          <m:nor/>
                        </m:rPr>
                        <a:rPr lang="en-US" sz="1600" i="0"/>
                        <m:t>statistics</m:t>
                      </m:r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We compare: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0"/>
                        <m:t>Geometric</m:t>
                      </m:r>
                      <m:r>
                        <m:rPr>
                          <m:nor/>
                        </m:rPr>
                        <a:rPr lang="en-US" sz="1600" i="0"/>
                        <m:t> </m:t>
                      </m:r>
                      <m:r>
                        <m:rPr>
                          <m:nor/>
                        </m:rPr>
                        <a:rPr lang="en-US" sz="1600" i="0"/>
                        <m:t>distributions</m:t>
                      </m:r>
                      <m:r>
                        <m:rPr>
                          <m:nor/>
                        </m:rPr>
                        <a:rPr lang="en-US" sz="1600" i="0"/>
                        <m:t> </m:t>
                      </m:r>
                      <m:r>
                        <m:rPr>
                          <m:nor/>
                        </m:rPr>
                        <a:rPr lang="en-US" sz="1600" i="0"/>
                        <m:t>derived</m:t>
                      </m:r>
                      <m:r>
                        <m:rPr>
                          <m:nor/>
                        </m:rPr>
                        <a:rPr lang="en-US" sz="1600" i="0"/>
                        <m:t> </m:t>
                      </m:r>
                      <m:r>
                        <m:rPr>
                          <m:nor/>
                        </m:rPr>
                        <a:rPr lang="en-US" sz="1600" i="0"/>
                        <m:t>from</m:t>
                      </m:r>
                      <m:r>
                        <m:rPr>
                          <m:nor/>
                        </m:rPr>
                        <a:rPr lang="en-US" sz="1600" i="0"/>
                        <m:t> </m:t>
                      </m:r>
                      <m:r>
                        <m:rPr>
                          <m:nor/>
                        </m:rPr>
                        <a:rPr lang="en-US" sz="1600" i="0"/>
                        <m:t>graphs</m:t>
                      </m:r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Strategy:</a:t>
                </a:r>
              </a:p>
              <a:p>
                <a:pPr marL="1085850" lvl="1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600" dirty="0"/>
                  <a:t>Embed graph into Euclidean space</a:t>
                </a:r>
              </a:p>
              <a:p>
                <a:pPr marL="1085850" lvl="1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600" dirty="0"/>
                  <a:t>Represent nodes as a point cloud</a:t>
                </a:r>
              </a:p>
              <a:p>
                <a:pPr marL="1085850" lvl="1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600" dirty="0"/>
                  <a:t>View the point cloud as a probability measure</a:t>
                </a:r>
              </a:p>
              <a:p>
                <a:pPr marL="1085850" lvl="1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1600" dirty="0"/>
                  <a:t>Measure distance using Optimal Transport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CD28CE-153C-42F2-A305-9646D96664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50933" y="1483360"/>
                <a:ext cx="6434667" cy="5195147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7958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F532-32E3-A915-A96F-89081543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6"/>
            <a:ext cx="10439401" cy="969222"/>
          </a:xfrm>
        </p:spPr>
        <p:txBody>
          <a:bodyPr>
            <a:normAutofit/>
          </a:bodyPr>
          <a:lstStyle/>
          <a:p>
            <a:r>
              <a:rPr lang="en-US" sz="2800" b="1" dirty="0"/>
              <a:t>Framework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F9ED3-74BD-1B32-7A9F-DEA174273A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402080"/>
            <a:ext cx="4822614" cy="509079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600" dirty="0"/>
              <a:t>Proposed Pipeline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00" b="0" dirty="0"/>
              <a:t>Steps: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b="0" dirty="0"/>
              <a:t>Functional connectivity → weighted graph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b="0" dirty="0"/>
              <a:t>Laplacian spectral embedding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b="0" dirty="0"/>
              <a:t>Probability measure construction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b="0" dirty="0"/>
              <a:t>Graph Sliced Wasserstein distance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b="0" dirty="0"/>
              <a:t>Exponential kernelization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600" b="0" dirty="0"/>
              <a:t>SVM-based classification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00" b="0" dirty="0"/>
              <a:t>This pipeline bridges: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00" b="0" dirty="0"/>
              <a:t>Graph Theory → Geometry → Optimization → Learning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77079C-42BC-55A1-BA6D-1DDF79A1253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974080" y="1551094"/>
            <a:ext cx="5379720" cy="469516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DCA9D-FC19-4B3E-9691-AC09A16DC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86870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ACF0-75C4-B38E-44BE-3BF678E1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6238241" cy="1646555"/>
          </a:xfrm>
        </p:spPr>
        <p:txBody>
          <a:bodyPr>
            <a:normAutofit/>
          </a:bodyPr>
          <a:lstStyle/>
          <a:p>
            <a:r>
              <a:rPr lang="en-US" sz="2800" b="1" dirty="0"/>
              <a:t>Spectral Graph 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FCC8D-193E-91E4-581B-5BF2C2067AF8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1828801"/>
                <a:ext cx="5933441" cy="433832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1600" b="1" dirty="0"/>
                  <a:t>Laplacian Embedding as Geometric Projection</a:t>
                </a:r>
              </a:p>
              <a:p>
                <a:pPr>
                  <a:buNone/>
                </a:pPr>
                <a:r>
                  <a:rPr lang="en-US" sz="1600" dirty="0"/>
                  <a:t>Graph Laplacian: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r>
                  <a:rPr lang="en-US" sz="1600" dirty="0"/>
                  <a:t>Eigen-decomposition: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r>
                  <a:rPr lang="en-US" sz="1600" dirty="0"/>
                  <a:t>Node embedding: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r>
                  <a:rPr lang="en-US" sz="1600" dirty="0"/>
                  <a:t>Properties:</a:t>
                </a:r>
              </a:p>
              <a:p>
                <a:pPr lvl="1"/>
                <a:r>
                  <a:rPr lang="en-US" sz="1600" dirty="0"/>
                  <a:t>Encodes global graph structure</a:t>
                </a:r>
              </a:p>
              <a:p>
                <a:pPr lvl="1"/>
                <a:r>
                  <a:rPr lang="en-US" sz="1600" dirty="0"/>
                  <a:t>Preserves diffusion geometry</a:t>
                </a:r>
              </a:p>
              <a:p>
                <a:pPr lvl="1"/>
                <a:r>
                  <a:rPr lang="en-US" sz="1600" dirty="0"/>
                  <a:t>Connects to manifold learning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AFCC8D-193E-91E4-581B-5BF2C2067A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1828801"/>
                <a:ext cx="5933441" cy="4338320"/>
              </a:xfrm>
              <a:blipFill>
                <a:blip r:embed="rId2"/>
                <a:stretch>
                  <a:fillRect l="-514" t="-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2964-1583-9CF2-5D5F-7733D20F9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21831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E537-8C41-D71A-61CD-83A86322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213" y="2749973"/>
            <a:ext cx="5181600" cy="261450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From Embedded Nodes to Probability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8C015F-825B-990C-A673-A31ED6F67BD4}"/>
                  </a:ext>
                </a:extLst>
              </p:cNvPr>
              <p:cNvSpPr txBox="1"/>
              <p:nvPr/>
            </p:nvSpPr>
            <p:spPr>
              <a:xfrm>
                <a:off x="6575215" y="998751"/>
                <a:ext cx="4952999" cy="4860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None/>
                </a:pPr>
                <a:r>
                  <a:rPr lang="en-US" sz="1600" b="1" dirty="0">
                    <a:solidFill>
                      <a:schemeClr val="bg1"/>
                    </a:solidFill>
                  </a:rPr>
                  <a:t>Graph as a Distribution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</a:rPr>
                  <a:t>After embedding:</a:t>
                </a:r>
              </a:p>
              <a:p>
                <a:pPr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</a:rPr>
                  <a:t>Define empirical measure:</a:t>
                </a:r>
              </a:p>
              <a:p>
                <a:pPr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sub>
                      </m:sSub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</a:rPr>
                  <a:t>Interpretation: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</a:rPr>
                  <a:t>A brain graph becomes a distribution of mass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</a:rPr>
                  <a:t>in a latent geometric space.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8C015F-825B-990C-A673-A31ED6F67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215" y="998751"/>
                <a:ext cx="4952999" cy="4860498"/>
              </a:xfrm>
              <a:prstGeom prst="rect">
                <a:avLst/>
              </a:prstGeom>
              <a:blipFill>
                <a:blip r:embed="rId2"/>
                <a:stretch>
                  <a:fillRect l="-739" b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31859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0C0E-CAA0-8D22-008A-67ACB3A9C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6"/>
            <a:ext cx="9524998" cy="1083002"/>
          </a:xfrm>
        </p:spPr>
        <p:txBody>
          <a:bodyPr>
            <a:normAutofit/>
          </a:bodyPr>
          <a:lstStyle/>
          <a:p>
            <a:r>
              <a:rPr lang="en-US" sz="2800" b="1" dirty="0"/>
              <a:t>Optimal Transport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D5A5F-59C8-722B-353D-2DD9CAE9FC7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8" y="1517229"/>
                <a:ext cx="8155095" cy="4673598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700" b="1" dirty="0"/>
                  <a:t>Wasserstein Distance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700" dirty="0"/>
                  <a:t>For two measures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700" dirty="0"/>
                  <a:t>, </a:t>
                </a:r>
                <a14:m>
                  <m:oMath xmlns:m="http://schemas.openxmlformats.org/officeDocument/2006/math">
                    <m:r>
                      <a:rPr lang="en-US" sz="1700" b="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7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7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e>
                          <m:r>
                            <a:rPr lang="en-US" sz="1700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1700" b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limLow>
                                <m:limLow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func>
                                    <m:funcPr>
                                      <m:ctrlPr>
                                        <a:rPr lang="en-US" sz="17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1700" b="0" i="1">
                                          <a:latin typeface="Cambria Math" panose="02040503050406030204" pitchFamily="18" charset="0"/>
                                        </a:rPr>
                                        <m:t>𝑖𝑛𝑓</m:t>
                                      </m:r>
                                    </m:fName>
                                    <m:e/>
                                  </m:func>
                                </m:e>
                                <m:lim>
                                  <m:r>
                                    <a:rPr lang="en-US" sz="1700" b="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sz="1700" b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700" b="0" i="1">
                                      <a:latin typeface="Cambria Math" panose="02040503050406030204" pitchFamily="18" charset="0"/>
                                    </a:rPr>
                                    <m:t>𝛤</m:t>
                                  </m:r>
                                  <m:d>
                                    <m:dPr>
                                      <m:sepChr m:val=","/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 b="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e>
                                      <m:r>
                                        <a:rPr lang="en-US" sz="1700" b="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lim>
                              </m:limLow>
                              <m:nary>
                                <m:naryPr>
                                  <m:grow m:val="on"/>
                                  <m:subHide m:val="on"/>
                                  <m:supHide m:val="on"/>
                                  <m:ctrlPr>
                                    <a:rPr lang="en-US" sz="17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700" b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</m:nary>
                              <m:r>
                                <a:rPr lang="en-US" sz="17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700" b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700" b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p>
                                  <m:r>
                                    <a:rPr lang="en-US" sz="1700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a:rPr lang="en-US" sz="1700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700" b="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sepChr m:val=","/>
                                  <m:ctrlPr>
                                    <a:rPr lang="en-US" sz="17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sz="17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7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700" b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7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700" dirty="0"/>
              </a:p>
              <a:p>
                <a:pPr>
                  <a:lnSpc>
                    <a:spcPct val="150000"/>
                  </a:lnSpc>
                </a:pPr>
                <a:r>
                  <a:rPr lang="en-US" sz="1700" dirty="0"/>
                  <a:t>Meaning:</a:t>
                </a:r>
              </a:p>
              <a:p>
                <a:pPr marL="514350" lvl="1" indent="-285750">
                  <a:lnSpc>
                    <a:spcPct val="150000"/>
                  </a:lnSpc>
                </a:pPr>
                <a:r>
                  <a:rPr lang="en-US" sz="1700" dirty="0"/>
                  <a:t>Minimum cost to transform one distribution into another</a:t>
                </a:r>
              </a:p>
              <a:p>
                <a:pPr marL="514350" lvl="1" indent="-285750">
                  <a:lnSpc>
                    <a:spcPct val="150000"/>
                  </a:lnSpc>
                </a:pPr>
                <a:r>
                  <a:rPr lang="en-US" sz="1700" dirty="0"/>
                  <a:t>Cost reflects global structural change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700" dirty="0"/>
                  <a:t>Challenge:</a:t>
                </a:r>
              </a:p>
              <a:p>
                <a:pPr marL="514350" lvl="1" indent="-285750">
                  <a:lnSpc>
                    <a:spcPct val="150000"/>
                  </a:lnSpc>
                </a:pPr>
                <a:r>
                  <a:rPr lang="en-US" sz="1700" dirty="0"/>
                  <a:t>High-dimensional OT is computationally expensive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D5A5F-59C8-722B-353D-2DD9CAE9F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8" y="1517229"/>
                <a:ext cx="8155095" cy="4673598"/>
              </a:xfrm>
              <a:blipFill>
                <a:blip r:embed="rId2"/>
                <a:stretch>
                  <a:fillRect l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0A384-4D12-86A4-D9EC-9F56AF2CA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05114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55EE-E5D8-EA9D-4471-AB61E2A80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527040" cy="930760"/>
          </a:xfrm>
        </p:spPr>
        <p:txBody>
          <a:bodyPr>
            <a:normAutofit/>
          </a:bodyPr>
          <a:lstStyle/>
          <a:p>
            <a:r>
              <a:rPr lang="en-US" sz="2800" b="1" dirty="0"/>
              <a:t>Sliced Wasserstein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BC6C57-124C-300F-A621-938091AAECF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1666240"/>
                <a:ext cx="6109547" cy="4741332"/>
              </a:xfrm>
            </p:spPr>
            <p:txBody>
              <a:bodyPr>
                <a:normAutofit/>
              </a:bodyPr>
              <a:lstStyle/>
              <a:p>
                <a:r>
                  <a:rPr lang="en-US" sz="1600" b="1" dirty="0"/>
                  <a:t>Dimensionality Reduction via Random Projections</a:t>
                </a:r>
              </a:p>
              <a:p>
                <a:r>
                  <a:rPr lang="en-US" sz="1600" dirty="0"/>
                  <a:t>Key idea:</a:t>
                </a:r>
              </a:p>
              <a:p>
                <a:r>
                  <a:rPr lang="en-US" sz="1600" dirty="0"/>
                  <a:t>Project high-dimensional measures onto 1D lines.</a:t>
                </a:r>
              </a:p>
              <a:p>
                <a:r>
                  <a:rPr lang="en-US" sz="1600" dirty="0"/>
                  <a:t>Procedure:</a:t>
                </a:r>
              </a:p>
              <a:p>
                <a:pPr marL="1028700" lvl="1" indent="-342900">
                  <a:buFont typeface="+mj-lt"/>
                  <a:buAutoNum type="arabicPeriod"/>
                </a:pPr>
                <a:r>
                  <a:rPr lang="en-US" sz="1600" dirty="0"/>
                  <a:t>Sample directions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latin typeface="Cambria Math" panose="02040503050406030204" pitchFamily="18" charset="0"/>
                          </a:rPr>
                          <m:t>𝕊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1028700" lvl="1" indent="-342900">
                  <a:buFont typeface="+mj-lt"/>
                  <a:buAutoNum type="arabicPeriod"/>
                </a:pPr>
                <a:r>
                  <a:rPr lang="en-US" sz="1600" dirty="0"/>
                  <a:t>Project data: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1028700" lvl="1" indent="-342900">
                  <a:buFont typeface="+mj-lt"/>
                  <a:buAutoNum type="arabicPeriod"/>
                </a:pPr>
                <a:r>
                  <a:rPr lang="en-US" sz="1600" dirty="0"/>
                  <a:t>Compute 1D Wasserstein distance</a:t>
                </a:r>
              </a:p>
              <a:p>
                <a:pPr marL="1028700" lvl="1" indent="-342900">
                  <a:buFont typeface="+mj-lt"/>
                  <a:buAutoNum type="arabicPeriod"/>
                </a:pPr>
                <a:r>
                  <a:rPr lang="en-US" sz="1600" dirty="0"/>
                  <a:t>Average over projections</a:t>
                </a:r>
              </a:p>
              <a:p>
                <a:r>
                  <a:rPr lang="en-US" sz="1600" dirty="0"/>
                  <a:t>Result:</a:t>
                </a:r>
              </a:p>
              <a:p>
                <a:pPr marL="971550" lvl="1" indent="-285750"/>
                <a:r>
                  <a:rPr lang="en-US" sz="1600" dirty="0"/>
                  <a:t>Efficient</a:t>
                </a:r>
              </a:p>
              <a:p>
                <a:pPr marL="971550" lvl="1" indent="-285750"/>
                <a:r>
                  <a:rPr lang="en-US" sz="1600" dirty="0"/>
                  <a:t>Differentiable</a:t>
                </a:r>
              </a:p>
              <a:p>
                <a:pPr marL="971550" lvl="1" indent="-285750"/>
                <a:r>
                  <a:rPr lang="en-US" sz="1600" dirty="0"/>
                  <a:t>Scalable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BC6C57-124C-300F-A621-938091AAEC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1666240"/>
                <a:ext cx="6109547" cy="4741332"/>
              </a:xfrm>
              <a:blipFill>
                <a:blip r:embed="rId2"/>
                <a:stretch>
                  <a:fillRect l="-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03995-CF87-B8D7-B5F6-A6FC39FB4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0882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E787-DDE3-E285-75D6-80B931C0D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104" y="165648"/>
            <a:ext cx="7832650" cy="979789"/>
          </a:xfrm>
        </p:spPr>
        <p:txBody>
          <a:bodyPr>
            <a:normAutofit/>
          </a:bodyPr>
          <a:lstStyle/>
          <a:p>
            <a:r>
              <a:rPr lang="en-US" sz="2800" b="1" dirty="0"/>
              <a:t>Graph Sliced Wasserstein Distance (GSW)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D8372-1F28-C2F3-D752-EE4E638ED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09192" y="1665768"/>
                <a:ext cx="6301562" cy="460035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b="1" dirty="0"/>
                  <a:t>Extending SW to Graphs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Definition: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𝐺𝑆𝑊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Φ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𝐺𝑆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Approximation:</a:t>
                </a:r>
                <a:endParaRPr lang="fa-IR" sz="1600" dirty="0"/>
              </a:p>
              <a:p>
                <a:pPr>
                  <a:lnSpc>
                    <a:spcPct val="200000"/>
                  </a:lnSpc>
                </a:pPr>
                <a:endParaRPr lang="en-US" sz="1600" dirty="0"/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Key aspects:</a:t>
                </a:r>
              </a:p>
              <a:p>
                <a:pPr marL="1028700" lvl="1">
                  <a:lnSpc>
                    <a:spcPct val="200000"/>
                  </a:lnSpc>
                </a:pPr>
                <a:r>
                  <a:rPr lang="en-US" sz="1600" dirty="0"/>
                  <a:t>Sorting-based computation</a:t>
                </a:r>
              </a:p>
              <a:p>
                <a:pPr marL="1028700" lvl="1">
                  <a:lnSpc>
                    <a:spcPct val="200000"/>
                  </a:lnSpc>
                </a:pPr>
                <a:r>
                  <a:rPr lang="en-US" sz="1600" dirty="0"/>
                  <a:t>Avoids full OT optimization</a:t>
                </a:r>
              </a:p>
              <a:p>
                <a:pPr>
                  <a:lnSpc>
                    <a:spcPct val="20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D8372-1F28-C2F3-D752-EE4E638ED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9192" y="1665768"/>
                <a:ext cx="6301562" cy="4600354"/>
              </a:xfrm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00C8075-E0D0-1640-AA2B-AF6BACB9F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94" y="3740916"/>
            <a:ext cx="3437862" cy="61843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6315443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984B-D384-41ED-6433-BCF5AACA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4"/>
            <a:ext cx="5179615" cy="1013892"/>
          </a:xfrm>
        </p:spPr>
        <p:txBody>
          <a:bodyPr>
            <a:normAutofit/>
          </a:bodyPr>
          <a:lstStyle/>
          <a:p>
            <a:r>
              <a:rPr lang="en-US" sz="2800" b="1" dirty="0"/>
              <a:t>Metric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39AA7-06C4-0ABC-E548-A6D4C2F21AA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403498"/>
            <a:ext cx="7825564" cy="525957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b="1" dirty="0"/>
              <a:t>Theoretical Guarantees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Theorem: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Graph Sliced Wasserstein Distance is a valid metric.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Properties: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Non-negativity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Symmetry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Identity of </a:t>
            </a:r>
            <a:r>
              <a:rPr lang="en-US" sz="1900" dirty="0" err="1"/>
              <a:t>indiscernibles</a:t>
            </a:r>
            <a:endParaRPr lang="en-US" sz="1900" dirty="0"/>
          </a:p>
          <a:p>
            <a:pPr lvl="1">
              <a:lnSpc>
                <a:spcPct val="150000"/>
              </a:lnSpc>
            </a:pPr>
            <a:r>
              <a:rPr lang="en-US" sz="1900" dirty="0"/>
              <a:t>Triangle inequality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This ensures: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Meaningful geometry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Stable learning behavior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F3BF8-60FB-AE46-51AE-5EF506B05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63728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FE6D-FB31-608E-F625-C5E1D394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1066700"/>
          </a:xfrm>
        </p:spPr>
        <p:txBody>
          <a:bodyPr>
            <a:normAutofit/>
          </a:bodyPr>
          <a:lstStyle/>
          <a:p>
            <a:r>
              <a:rPr lang="en-US" sz="2800" b="1" dirty="0"/>
              <a:t>From Distance to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F13C85-BE61-C33B-7124-4025E0AEE40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1623238"/>
                <a:ext cx="6110177" cy="46230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b="1" dirty="0"/>
                  <a:t>Sliced Wasserstein Graph Kernel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Definition: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𝑆𝑊𝐺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𝐺𝑆𝑊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sup>
                          </m:sSubSup>
                          <m:d>
                            <m:dPr>
                              <m:sepChr m:val=",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Why kernelization?</a:t>
                </a:r>
              </a:p>
              <a:p>
                <a:pPr marL="971550" lvl="1" indent="-285750">
                  <a:lnSpc>
                    <a:spcPct val="200000"/>
                  </a:lnSpc>
                </a:pPr>
                <a:r>
                  <a:rPr lang="en-US" sz="1600" dirty="0"/>
                  <a:t>Enables non-linear classification</a:t>
                </a:r>
              </a:p>
              <a:p>
                <a:pPr marL="971550" lvl="1" indent="-285750">
                  <a:lnSpc>
                    <a:spcPct val="200000"/>
                  </a:lnSpc>
                </a:pPr>
                <a:r>
                  <a:rPr lang="en-US" sz="1600" dirty="0"/>
                  <a:t>Allows SVM optimization</a:t>
                </a:r>
              </a:p>
              <a:p>
                <a:pPr marL="971550" lvl="1" indent="-285750">
                  <a:lnSpc>
                    <a:spcPct val="200000"/>
                  </a:lnSpc>
                </a:pPr>
                <a:r>
                  <a:rPr lang="en-US" sz="1600" dirty="0"/>
                  <a:t>Embeds graphs into RKHS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F13C85-BE61-C33B-7124-4025E0AEE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1623238"/>
                <a:ext cx="6110177" cy="4623016"/>
              </a:xfrm>
              <a:blipFill>
                <a:blip r:embed="rId2"/>
                <a:stretch>
                  <a:fillRect l="-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DF5E-712B-75A4-8E90-DE2A00256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20910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631F-C88C-FAFE-4E93-50AC3A01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Positive Definiteness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5BA05-056E-0B16-A8E8-E246CC5ED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E2BC73-DC64-D1ED-980E-A1E2DE3F32DB}"/>
                  </a:ext>
                </a:extLst>
              </p:cNvPr>
              <p:cNvSpPr txBox="1"/>
              <p:nvPr/>
            </p:nvSpPr>
            <p:spPr>
              <a:xfrm>
                <a:off x="1229932" y="2040507"/>
                <a:ext cx="6096000" cy="3959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None/>
                </a:pPr>
                <a:r>
                  <a:rPr lang="en-US" sz="1600" b="1" dirty="0"/>
                  <a:t>Why Positive Definite Matters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/>
                  <a:t>Theorem: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/>
                  <a:t>SWG kernel is positive definite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/>
                  <a:t>Consequences: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Convex SVM optimization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No numerical instability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Guaranteed convergence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lang="en-US" sz="1600" dirty="0"/>
                  <a:t>This is a major advantage over heuristic graph similarities.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E2BC73-DC64-D1ED-980E-A1E2DE3F3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932" y="2040507"/>
                <a:ext cx="6096000" cy="3959482"/>
              </a:xfrm>
              <a:prstGeom prst="rect">
                <a:avLst/>
              </a:prstGeom>
              <a:blipFill>
                <a:blip r:embed="rId2"/>
                <a:stretch>
                  <a:fillRect l="-600" b="-1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32727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1748-CB38-660C-D6BC-8D6DD135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Algorithmic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7EBB7-9D14-6126-CE42-43DEAA2BFE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Algorithm: Computing SWG Kernel</a:t>
            </a:r>
            <a:endParaRPr lang="fa-IR" sz="1600" b="1" dirty="0"/>
          </a:p>
          <a:p>
            <a:pPr marL="0" indent="0">
              <a:buNone/>
            </a:pPr>
            <a:endParaRPr 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BB10BB-196A-EFBB-9E57-EBF35F24A39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6284891" y="2022250"/>
                <a:ext cx="4992709" cy="452021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700" dirty="0"/>
                  <a:t>Steps: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700" dirty="0"/>
                  <a:t>Spectral embedding of each graph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700" dirty="0"/>
                  <a:t>Build empirical measures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700" dirty="0"/>
                  <a:t>Sample projection directions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700" dirty="0"/>
                  <a:t>Compute sliced Wasserstein distance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700" dirty="0"/>
                  <a:t>Apply exponential kernel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700" dirty="0"/>
                  <a:t>Complexity: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700" dirty="0"/>
                  <a:t>Eigen-decomposition: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7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sz="17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1700" dirty="0"/>
                  <a:t>Sorting: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𝐿𝑛</m:t>
                        </m:r>
                        <m:func>
                          <m:func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7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17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BB10BB-196A-EFBB-9E57-EBF35F24A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6284891" y="2022250"/>
                <a:ext cx="4992709" cy="4520218"/>
              </a:xfrm>
              <a:blipFill>
                <a:blip r:embed="rId2"/>
                <a:stretch>
                  <a:fillRect l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6BF7C-D53C-64F2-930E-68849FD2A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945BB-2760-2545-2379-B7B41C41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07" y="2627883"/>
            <a:ext cx="5181601" cy="32342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1735648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95EB-1EF6-E573-7199-C2E4BB36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889490"/>
          </a:xfrm>
        </p:spPr>
        <p:txBody>
          <a:bodyPr>
            <a:normAutofit/>
          </a:bodyPr>
          <a:lstStyle/>
          <a:p>
            <a:r>
              <a:rPr lang="en-US" sz="2800" b="1" dirty="0"/>
              <a:t>Datasets and 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6DE9-05A7-73CB-3AF5-21D3A06071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424764"/>
            <a:ext cx="5621079" cy="4549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Brain Disease Benchmarks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Datasets: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ADHD vs NC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ASD vs NC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EMCI vs NC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Settings: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10-fold cross-validation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SVM classifier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Accuracy &amp; AUC metrics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Ensures fair and robust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B1C12-B227-78B8-E625-0413E1879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3007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1216-1A25-9D54-1FC7-610405C4B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6"/>
            <a:ext cx="10363201" cy="1059638"/>
          </a:xfrm>
        </p:spPr>
        <p:txBody>
          <a:bodyPr>
            <a:normAutofit/>
          </a:bodyPr>
          <a:lstStyle/>
          <a:p>
            <a:r>
              <a:rPr lang="en-US" sz="2800" b="1" dirty="0"/>
              <a:t>Classification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BB1C-61AA-5B58-1F16-61A909F5397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5545" y="1424764"/>
            <a:ext cx="5141564" cy="434466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/>
              <a:t>Quantitative Results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/>
              <a:t>Observations: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SWG achieves highest accuracy across all tasks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Particularly strong for ASD (90.54%)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Outperforms both kernels and GNNs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/>
              <a:t>Indicates strong geometric discriminability.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FE26FF-F781-DA88-6B6B-A5EBBE4F325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284913" y="1424764"/>
            <a:ext cx="5460520" cy="434466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653A2-1105-9CE9-6208-8078C5396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35995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248AF-F1DC-65C0-2C48-8E7989A9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6"/>
            <a:ext cx="10363201" cy="1066726"/>
          </a:xfrm>
        </p:spPr>
        <p:txBody>
          <a:bodyPr>
            <a:normAutofit/>
          </a:bodyPr>
          <a:lstStyle/>
          <a:p>
            <a:r>
              <a:rPr lang="en-US" sz="2800" b="1" dirty="0"/>
              <a:t>Computational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B7AD-4C58-61DA-0DAB-2D1A0FEDBA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920948"/>
            <a:ext cx="4992709" cy="4437322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/>
              <a:t>Runtime Comparison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/>
              <a:t>Key result: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GNN-based methods: ≥ 100s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SWG: order-of-magnitude faster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600" dirty="0"/>
              <a:t>Reason: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Avoids backpropagation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Uses closed-form OT approximations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685559-E0B2-1950-3184-ED8EB627860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284894" y="1920948"/>
            <a:ext cx="5276241" cy="43253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999F6-3B4A-EA3E-4A31-D596CCF8C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17950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76739-CD30-78D2-B711-86E2A51E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960401"/>
          </a:xfrm>
        </p:spPr>
        <p:txBody>
          <a:bodyPr>
            <a:normAutofit/>
          </a:bodyPr>
          <a:lstStyle/>
          <a:p>
            <a:r>
              <a:rPr lang="en-US" sz="2800" b="1" dirty="0"/>
              <a:t>Interpretation of Distance Heatmaps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3B455-520A-8D51-F750-89BDC5A4F4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541719"/>
            <a:ext cx="4231760" cy="43375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Geometric Meaning of Results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/>
              <a:t>Observation:</a:t>
            </a:r>
          </a:p>
          <a:p>
            <a:pPr lvl="1">
              <a:lnSpc>
                <a:spcPct val="150000"/>
              </a:lnSpc>
            </a:pPr>
            <a:r>
              <a:rPr lang="en-US" sz="1600" b="0" dirty="0"/>
              <a:t>Patients show larger Wasserstein distances</a:t>
            </a:r>
          </a:p>
          <a:p>
            <a:pPr lvl="1">
              <a:lnSpc>
                <a:spcPct val="150000"/>
              </a:lnSpc>
            </a:pPr>
            <a:r>
              <a:rPr lang="en-US" sz="1600" b="0" dirty="0"/>
              <a:t>Indicates higher transport cost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/>
              <a:t>Interpretation: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600" b="0" dirty="0"/>
              <a:t>Disease alters the global geometry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/>
              <a:t>of functional brain networks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E9957F-1627-A3E3-3F77-5BFFB3CFE2B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146157" y="1672855"/>
            <a:ext cx="6207642" cy="41178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1EAF8-D903-F661-2934-C415451E4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98988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2B4F-52EB-87F5-8679-C344E680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192" y="310295"/>
            <a:ext cx="6237766" cy="1149910"/>
          </a:xfrm>
        </p:spPr>
        <p:txBody>
          <a:bodyPr>
            <a:normAutofit/>
          </a:bodyPr>
          <a:lstStyle/>
          <a:p>
            <a:r>
              <a:rPr lang="en-US" sz="2800" b="1" dirty="0"/>
              <a:t>Future Directions &amp; Mathematical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C14D3-C638-3062-5BC2-835263662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191" y="1644503"/>
            <a:ext cx="6237765" cy="50478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/>
              <a:t>Beyond This Work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Potential extensions: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Learnable slicing directions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End-to-end SW loss in GNNs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OT-based pooling layers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Multi-scale Wasserstein kernels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Final message: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sz="1600" dirty="0"/>
              <a:t>This work demonstrates how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Optimal Transport + Geometry + Kernels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form a powerful paradigm in Data Science.</a:t>
            </a:r>
          </a:p>
        </p:txBody>
      </p:sp>
    </p:spTree>
    <p:extLst>
      <p:ext uri="{BB962C8B-B14F-4D97-AF65-F5344CB8AC3E}">
        <p14:creationId xmlns:p14="http://schemas.microsoft.com/office/powerpoint/2010/main" val="3636098491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05491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307840"/>
            <a:ext cx="5057103" cy="2384512"/>
          </a:xfrm>
        </p:spPr>
        <p:txBody>
          <a:bodyPr/>
          <a:lstStyle/>
          <a:p>
            <a:r>
              <a:rPr lang="en-US" dirty="0"/>
              <a:t>Hannah Fathi</a:t>
            </a:r>
          </a:p>
          <a:p>
            <a:r>
              <a:rPr lang="en-US" dirty="0"/>
              <a:t>hannahfathi99@gmail.com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172</TotalTime>
  <Words>809</Words>
  <Application>Microsoft Office PowerPoint</Application>
  <PresentationFormat>Widescreen</PresentationFormat>
  <Paragraphs>222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Tenorite</vt:lpstr>
      <vt:lpstr>Custom</vt:lpstr>
      <vt:lpstr>Positive Definite Sliced Wasserstein Graph Kernel for Brain Disease Diagnosis</vt:lpstr>
      <vt:lpstr>Scientific Motivation</vt:lpstr>
      <vt:lpstr>Brain Functional Networks as Graphs</vt:lpstr>
      <vt:lpstr>Limitations of Classical Graph Features</vt:lpstr>
      <vt:lpstr>From Graph Comparison to Geometry</vt:lpstr>
      <vt:lpstr>Framework Overview</vt:lpstr>
      <vt:lpstr>Spectral Graph Embedding</vt:lpstr>
      <vt:lpstr>From Embedded Nodes to Probability Measures</vt:lpstr>
      <vt:lpstr>Optimal Transport Perspective</vt:lpstr>
      <vt:lpstr>Sliced Wasserstein Distance</vt:lpstr>
      <vt:lpstr>Graph Sliced Wasserstein Distance (GSW)</vt:lpstr>
      <vt:lpstr>Metric Properties</vt:lpstr>
      <vt:lpstr>From Distance to Kernel</vt:lpstr>
      <vt:lpstr>Positive Definiteness</vt:lpstr>
      <vt:lpstr>Algorithmic Implementation</vt:lpstr>
      <vt:lpstr>Datasets and Experimental Setup</vt:lpstr>
      <vt:lpstr>Classification Performance</vt:lpstr>
      <vt:lpstr>Computational Efficiency</vt:lpstr>
      <vt:lpstr>Interpretation of Distance Heatmaps</vt:lpstr>
      <vt:lpstr>Future Directions &amp; Mathematical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Fathi</dc:creator>
  <cp:lastModifiedBy>Hannah Fathi</cp:lastModifiedBy>
  <cp:revision>10</cp:revision>
  <dcterms:created xsi:type="dcterms:W3CDTF">2026-04-17T14:30:16Z</dcterms:created>
  <dcterms:modified xsi:type="dcterms:W3CDTF">2026-07-08T21:42:20Z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